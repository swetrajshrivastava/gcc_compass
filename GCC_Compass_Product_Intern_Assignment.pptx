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tatic.pib.gov.in/WriteReadData/specificdocs/documents/2025/dec/doc20251211727201.pdf" TargetMode="External"/><Relationship Id="rId3" Type="http://schemas.openxmlformats.org/officeDocument/2006/relationships/hyperlink" Target="https://community.nasscom.in/index.php/communities/nasscom-insights/india-gcc-landscape-report-5-year-journey?page=7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530352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9EB3D1"/>
                </a:solidFill>
                <a:latin typeface="Aptos"/>
              </a:defRPr>
            </a:pPr>
            <a:r>
              <a:t>FLEXIPLE  /  PRODUCT INTERN ASSIGNMENT  /  OCT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53312"/>
            <a:ext cx="7498079" cy="20848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3100" b="1" i="0">
                <a:solidFill>
                  <a:srgbClr val="FFFFFF"/>
                </a:solidFill>
                <a:latin typeface="Aptos Display"/>
              </a:defRPr>
            </a:pPr>
            <a:r>
              <a:t>India’s GCC market</a:t>
            </a:r>
          </a:p>
          <a:p>
            <a:pPr algn="l">
              <a:spcAft>
                <a:spcPts val="400"/>
              </a:spcAft>
              <a:defRPr sz="3100" b="1" i="0">
                <a:solidFill>
                  <a:srgbClr val="FFFFFF"/>
                </a:solidFill>
                <a:latin typeface="Aptos Display"/>
              </a:defRPr>
            </a:pPr>
            <a:r>
              <a:t>needs an evidence layer —</a:t>
            </a:r>
          </a:p>
          <a:p>
            <a:pPr algn="l">
              <a:spcAft>
                <a:spcPts val="400"/>
              </a:spcAft>
              <a:defRPr sz="3100" b="1" i="0">
                <a:solidFill>
                  <a:srgbClr val="FFFFFF"/>
                </a:solidFill>
                <a:latin typeface="Aptos Display"/>
              </a:defRPr>
            </a:pPr>
            <a:r>
              <a:t>not another list.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3950208"/>
            <a:ext cx="42062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2200" b="1" i="0">
                <a:solidFill>
                  <a:srgbClr val="6BE0D3"/>
                </a:solidFill>
                <a:latin typeface="Aptos Display"/>
              </a:defRPr>
            </a:pPr>
            <a:r>
              <a:t>GCC Compass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4498848"/>
            <a:ext cx="594360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600" b="0" i="0">
                <a:solidFill>
                  <a:srgbClr val="D9E4F6"/>
                </a:solidFill>
                <a:latin typeface="Aptos"/>
              </a:defRPr>
            </a:pPr>
            <a:r>
              <a:t>A traceable research workspace for the decisions behind an India launch.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" y="5760720"/>
            <a:ext cx="1353312" cy="265176"/>
          </a:xfrm>
          <a:prstGeom prst="roundRect">
            <a:avLst/>
          </a:prstGeom>
          <a:solidFill>
            <a:srgbClr val="213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5774436"/>
            <a:ext cx="124358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800" b="1" i="0">
                <a:solidFill>
                  <a:srgbClr val="B9D4F2"/>
                </a:solidFill>
                <a:latin typeface="Aptos"/>
              </a:defRPr>
            </a:pPr>
            <a:r>
              <a:t>PRODUCT 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5779008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C1D2E8"/>
                </a:solidFill>
                <a:latin typeface="Aptos"/>
              </a:defRPr>
            </a:pPr>
            <a:r>
              <a:t>DISCOVER  →  COMPARE  →  VERIFY</a:t>
            </a:r>
          </a:p>
        </p:txBody>
      </p:sp>
      <p:sp>
        <p:nvSpPr>
          <p:cNvPr id="10" name="Oval 9"/>
          <p:cNvSpPr/>
          <p:nvPr/>
        </p:nvSpPr>
        <p:spPr>
          <a:xfrm>
            <a:off x="9189720" y="1234440"/>
            <a:ext cx="1024128" cy="1024128"/>
          </a:xfrm>
          <a:prstGeom prst="ellipse">
            <a:avLst/>
          </a:prstGeom>
          <a:solidFill>
            <a:srgbClr val="16A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405872" y="1993392"/>
            <a:ext cx="658368" cy="658368"/>
          </a:xfrm>
          <a:prstGeom prst="ellipse">
            <a:avLst/>
          </a:prstGeom>
          <a:solidFill>
            <a:srgbClr val="E7A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13648" y="2880360"/>
            <a:ext cx="667512" cy="667512"/>
          </a:xfrm>
          <a:prstGeom prst="ellipse">
            <a:avLst/>
          </a:prstGeom>
          <a:solidFill>
            <a:srgbClr val="729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058400" y="4160520"/>
            <a:ext cx="960120" cy="960120"/>
          </a:xfrm>
          <a:prstGeom prst="ellipse">
            <a:avLst/>
          </a:prstGeom>
          <a:solidFill>
            <a:srgbClr val="E5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78240" y="4892040"/>
            <a:ext cx="429768" cy="429768"/>
          </a:xfrm>
          <a:prstGeom prst="ellipse">
            <a:avLst/>
          </a:prstGeom>
          <a:solidFill>
            <a:srgbClr val="A7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784080" y="1783080"/>
            <a:ext cx="1143000" cy="27432"/>
          </a:xfrm>
          <a:prstGeom prst="rect">
            <a:avLst/>
          </a:prstGeom>
          <a:solidFill>
            <a:srgbClr val="456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25712" y="2560320"/>
            <a:ext cx="502920" cy="27432"/>
          </a:xfrm>
          <a:prstGeom prst="rect">
            <a:avLst/>
          </a:prstGeom>
          <a:solidFill>
            <a:srgbClr val="456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89720" y="3246120"/>
            <a:ext cx="1005840" cy="27432"/>
          </a:xfrm>
          <a:prstGeom prst="rect">
            <a:avLst/>
          </a:prstGeom>
          <a:solidFill>
            <a:srgbClr val="456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0" y="5074920"/>
            <a:ext cx="822960" cy="27432"/>
          </a:xfrm>
          <a:prstGeom prst="rect">
            <a:avLst/>
          </a:prstGeom>
          <a:solidFill>
            <a:srgbClr val="456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20" y="159105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  <a:defRPr sz="800" b="1" i="0">
                <a:solidFill>
                  <a:srgbClr val="101C3A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42448" y="2212848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  <a:defRPr sz="800" b="1" i="0">
                <a:solidFill>
                  <a:srgbClr val="101C3A"/>
                </a:solidFill>
                <a:latin typeface="Aptos"/>
              </a:defRPr>
            </a:pPr>
            <a:r>
              <a:t>CITY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68512" y="3127248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  <a:defRPr sz="800" b="1" i="0">
                <a:solidFill>
                  <a:srgbClr val="FFFFFF"/>
                </a:solidFill>
                <a:latin typeface="Aptos"/>
              </a:defRPr>
            </a:pPr>
            <a:r>
              <a:t>GCC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94976" y="452628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  <a:defRPr sz="800" b="1" i="0">
                <a:solidFill>
                  <a:srgbClr val="FFFFFF"/>
                </a:solidFill>
                <a:latin typeface="Aptos"/>
              </a:defRPr>
            </a:pPr>
            <a:r>
              <a:t>PROOF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16AFA2"/>
                </a:solidFill>
                <a:latin typeface="Aptos"/>
              </a:defRPr>
            </a:pPr>
            <a:r>
              <a:t>01 /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881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2800" b="1" i="0">
                <a:solidFill>
                  <a:srgbClr val="101C3A"/>
                </a:solidFill>
                <a:latin typeface="Aptos Display"/>
              </a:defRPr>
            </a:pPr>
            <a:r>
              <a:t>The data exists. The connective tissue doesn’t.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25296"/>
            <a:ext cx="107899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62708A"/>
                </a:solidFill>
                <a:latin typeface="Aptos"/>
              </a:defRPr>
            </a:pPr>
            <a:r>
              <a:t>India-entry decisions join facts that live with different owners, in different formats, on different dates.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048256"/>
            <a:ext cx="2075688" cy="1938528"/>
          </a:xfrm>
          <a:prstGeom prst="roundRect">
            <a:avLst/>
          </a:prstGeom>
          <a:solidFill>
            <a:srgbClr val="E9EFFA"/>
          </a:solidFill>
          <a:ln w="10160"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286000"/>
            <a:ext cx="1783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400" b="1" i="0">
                <a:solidFill>
                  <a:srgbClr val="4169A1"/>
                </a:solidFill>
                <a:latin typeface="Aptos"/>
              </a:defRPr>
            </a:pPr>
            <a:r>
              <a:t>GCCs + moves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761488"/>
            <a:ext cx="178308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150" b="0" i="0">
                <a:solidFill>
                  <a:srgbClr val="17233D"/>
                </a:solidFill>
                <a:latin typeface="Aptos"/>
              </a:defRPr>
            </a:pPr>
            <a:r>
              <a:t>Filings</a:t>
            </a:r>
          </a:p>
          <a:p>
            <a:pPr algn="l">
              <a:spcAft>
                <a:spcPts val="400"/>
              </a:spcAft>
              <a:defRPr sz="1150" b="0" i="0">
                <a:solidFill>
                  <a:srgbClr val="17233D"/>
                </a:solidFill>
                <a:latin typeface="Aptos"/>
              </a:defRPr>
            </a:pPr>
            <a:r>
              <a:t>Company news</a:t>
            </a:r>
          </a:p>
          <a:p>
            <a:pPr algn="l">
              <a:spcAft>
                <a:spcPts val="400"/>
              </a:spcAft>
              <a:defRPr sz="1150" b="0" i="0">
                <a:solidFill>
                  <a:srgbClr val="17233D"/>
                </a:solidFill>
                <a:latin typeface="Aptos"/>
              </a:defRPr>
            </a:pPr>
            <a:r>
              <a:t>Industry reports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761488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  <a:defRPr sz="1600" b="1" i="0">
                <a:solidFill>
                  <a:srgbClr val="62708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35224" y="2048256"/>
            <a:ext cx="2075688" cy="1938528"/>
          </a:xfrm>
          <a:prstGeom prst="roundRect">
            <a:avLst/>
          </a:prstGeom>
          <a:solidFill>
            <a:srgbClr val="DDF5F1"/>
          </a:solidFill>
          <a:ln w="10160"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81528" y="2286000"/>
            <a:ext cx="1783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400" b="1" i="0">
                <a:solidFill>
                  <a:srgbClr val="16AFA2"/>
                </a:solidFill>
                <a:latin typeface="Aptos"/>
              </a:defRPr>
            </a:pPr>
            <a:r>
              <a:t>Cities + policy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81528" y="2761488"/>
            <a:ext cx="178308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150" b="0" i="0">
                <a:solidFill>
                  <a:srgbClr val="17233D"/>
                </a:solidFill>
                <a:latin typeface="Aptos"/>
              </a:defRPr>
            </a:pPr>
            <a:r>
              <a:t>State portals</a:t>
            </a:r>
          </a:p>
          <a:p>
            <a:pPr algn="l">
              <a:spcAft>
                <a:spcPts val="400"/>
              </a:spcAft>
              <a:defRPr sz="1150" b="0" i="0">
                <a:solidFill>
                  <a:srgbClr val="17233D"/>
                </a:solidFill>
                <a:latin typeface="Aptos"/>
              </a:defRPr>
            </a:pPr>
            <a:r>
              <a:t>Policy PDFs</a:t>
            </a:r>
          </a:p>
          <a:p>
            <a:pPr algn="l">
              <a:spcAft>
                <a:spcPts val="400"/>
              </a:spcAft>
              <a:defRPr sz="1150" b="0" i="0">
                <a:solidFill>
                  <a:srgbClr val="17233D"/>
                </a:solidFill>
                <a:latin typeface="Aptos"/>
              </a:defRPr>
            </a:pPr>
            <a:r>
              <a:t>Local agencies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0056" y="2761488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  <a:defRPr sz="1600" b="1" i="0">
                <a:solidFill>
                  <a:srgbClr val="62708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12080" y="2048256"/>
            <a:ext cx="2075688" cy="1938528"/>
          </a:xfrm>
          <a:prstGeom prst="roundRect">
            <a:avLst/>
          </a:prstGeom>
          <a:solidFill>
            <a:srgbClr val="FFF1D8"/>
          </a:solidFill>
          <a:ln w="10160"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58384" y="2286000"/>
            <a:ext cx="1783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400" b="1" i="0">
                <a:solidFill>
                  <a:srgbClr val="E7A846"/>
                </a:solidFill>
                <a:latin typeface="Aptos"/>
              </a:defRPr>
            </a:pPr>
            <a:r>
              <a:t>Space + talent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58384" y="2761488"/>
            <a:ext cx="178308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150" b="0" i="0">
                <a:solidFill>
                  <a:srgbClr val="17233D"/>
                </a:solidFill>
                <a:latin typeface="Aptos"/>
              </a:defRPr>
            </a:pPr>
            <a:r>
              <a:t>Broker briefs</a:t>
            </a:r>
          </a:p>
          <a:p>
            <a:pPr algn="l">
              <a:spcAft>
                <a:spcPts val="400"/>
              </a:spcAft>
              <a:defRPr sz="1150" b="0" i="0">
                <a:solidFill>
                  <a:srgbClr val="17233D"/>
                </a:solidFill>
                <a:latin typeface="Aptos"/>
              </a:defRPr>
            </a:pPr>
            <a:r>
              <a:t>Recruiter views</a:t>
            </a:r>
          </a:p>
          <a:p>
            <a:pPr algn="l">
              <a:spcAft>
                <a:spcPts val="400"/>
              </a:spcAft>
              <a:defRPr sz="1150" b="0" i="0">
                <a:solidFill>
                  <a:srgbClr val="17233D"/>
                </a:solidFill>
                <a:latin typeface="Aptos"/>
              </a:defRPr>
            </a:pPr>
            <a:r>
              <a:t>Market studies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96912" y="2761488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  <a:defRPr sz="1600" b="1" i="0">
                <a:solidFill>
                  <a:srgbClr val="62708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88936" y="2048256"/>
            <a:ext cx="2075688" cy="1938528"/>
          </a:xfrm>
          <a:prstGeom prst="roundRect">
            <a:avLst/>
          </a:prstGeom>
          <a:solidFill>
            <a:srgbClr val="FCE7E5"/>
          </a:solidFill>
          <a:ln w="10160"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35240" y="2286000"/>
            <a:ext cx="1783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400" b="1" i="0">
                <a:solidFill>
                  <a:srgbClr val="E56B62"/>
                </a:solidFill>
                <a:latin typeface="Aptos"/>
              </a:defRPr>
            </a:pPr>
            <a:r>
              <a:t>Providers + proof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2761488"/>
            <a:ext cx="178308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150" b="0" i="0">
                <a:solidFill>
                  <a:srgbClr val="17233D"/>
                </a:solidFill>
                <a:latin typeface="Aptos"/>
              </a:defRPr>
            </a:pPr>
            <a:r>
              <a:t>Service pages</a:t>
            </a:r>
          </a:p>
          <a:p>
            <a:pPr algn="l">
              <a:spcAft>
                <a:spcPts val="400"/>
              </a:spcAft>
              <a:defRPr sz="1150" b="0" i="0">
                <a:solidFill>
                  <a:srgbClr val="17233D"/>
                </a:solidFill>
                <a:latin typeface="Aptos"/>
              </a:defRPr>
            </a:pPr>
            <a:r>
              <a:t>Pitch decks</a:t>
            </a:r>
          </a:p>
          <a:p>
            <a:pPr algn="l">
              <a:spcAft>
                <a:spcPts val="400"/>
              </a:spcAft>
              <a:defRPr sz="1150" b="0" i="0">
                <a:solidFill>
                  <a:srgbClr val="17233D"/>
                </a:solidFill>
                <a:latin typeface="Aptos"/>
              </a:defRPr>
            </a:pPr>
            <a:r>
              <a:t>Client referrals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73768" y="2761488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  <a:defRPr sz="1600" b="1" i="0">
                <a:solidFill>
                  <a:srgbClr val="62708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65792" y="2048256"/>
            <a:ext cx="2075688" cy="1938528"/>
          </a:xfrm>
          <a:prstGeom prst="roundRect">
            <a:avLst/>
          </a:prstGeom>
          <a:solidFill>
            <a:srgbClr val="213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12096" y="2286000"/>
            <a:ext cx="1783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400" b="1" i="0">
                <a:solidFill>
                  <a:srgbClr val="FFFFFF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12096" y="2761488"/>
            <a:ext cx="178308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150" b="0" i="0">
                <a:solidFill>
                  <a:srgbClr val="FFFFFF"/>
                </a:solidFill>
                <a:latin typeface="Aptos"/>
              </a:defRPr>
            </a:pPr>
            <a:r>
              <a:t>Where to locate?</a:t>
            </a:r>
          </a:p>
          <a:p>
            <a:pPr algn="l">
              <a:spcAft>
                <a:spcPts val="400"/>
              </a:spcAft>
              <a:defRPr sz="1150" b="0" i="0">
                <a:solidFill>
                  <a:srgbClr val="FFFFFF"/>
                </a:solidFill>
                <a:latin typeface="Aptos"/>
              </a:defRPr>
            </a:pPr>
            <a:r>
              <a:t>Who can deliver?</a:t>
            </a:r>
          </a:p>
          <a:p>
            <a:pPr algn="l">
              <a:spcAft>
                <a:spcPts val="400"/>
              </a:spcAft>
              <a:defRPr sz="1150" b="0" i="0">
                <a:solidFill>
                  <a:srgbClr val="FFFFFF"/>
                </a:solidFill>
                <a:latin typeface="Aptos"/>
              </a:defRPr>
            </a:pPr>
            <a:r>
              <a:t>What is evidenced?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407408"/>
            <a:ext cx="10844784" cy="1078992"/>
          </a:xfrm>
          <a:prstGeom prst="roundRect">
            <a:avLst/>
          </a:prstGeom>
          <a:solidFill>
            <a:srgbClr val="10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4626864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6BE0D3"/>
                </a:solidFill>
                <a:latin typeface="Aptos"/>
              </a:defRPr>
            </a:pPr>
            <a:r>
              <a:t>THE FAILURE MODE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14600" y="4572000"/>
            <a:ext cx="85496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700" b="1" i="0">
                <a:solidFill>
                  <a:srgbClr val="FFFFFF"/>
                </a:solidFill>
                <a:latin typeface="Aptos"/>
              </a:defRPr>
            </a:pPr>
            <a:r>
              <a:t>Facts get detached from date, definition, source and delivery proof — so teams fall back on referrals.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" y="5907024"/>
            <a:ext cx="10424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800" b="0" i="0">
                <a:solidFill>
                  <a:srgbClr val="62708A"/>
                </a:solidFill>
                <a:latin typeface="Aptos"/>
              </a:defRPr>
            </a:pPr>
            <a:r>
              <a:t>Market-fragmentation premise from the Flexiple assignment brief. No time/cost impact is quantified in this prototype.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6565392"/>
            <a:ext cx="3200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  <a:defRPr sz="700" b="1" i="0">
                <a:solidFill>
                  <a:srgbClr val="62708A"/>
                </a:solidFill>
                <a:latin typeface="Aptos"/>
              </a:defRPr>
            </a:pPr>
            <a:r>
              <a:t>GCC COMPASS  /  PRODUCT INTERN ASSIGNMENT        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16AFA2"/>
                </a:solidFill>
                <a:latin typeface="Aptos"/>
              </a:defRPr>
            </a:pPr>
            <a:r>
              <a:t>02 / WHO IS HURT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881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2800" b="1" i="0">
                <a:solidFill>
                  <a:srgbClr val="101C3A"/>
                </a:solidFill>
                <a:latin typeface="Aptos Display"/>
              </a:defRPr>
            </a:pPr>
            <a:r>
              <a:t>The first buyer carries the most decision risk.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25296"/>
            <a:ext cx="107899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62708A"/>
                </a:solidFill>
                <a:latin typeface="Aptos"/>
              </a:defRPr>
            </a:pPr>
            <a:r>
              <a:t>Start with the team accountable for an India location and operating-model decision; serve adjacent actors without compromising trust.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3474720" cy="3337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74519"/>
            <a:ext cx="50292" cy="3337560"/>
          </a:xfrm>
          <a:prstGeom prst="rect">
            <a:avLst/>
          </a:prstGeom>
          <a:solidFill>
            <a:srgbClr val="16A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3090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101C3A"/>
                </a:solidFill>
                <a:latin typeface="Aptos"/>
              </a:defRPr>
            </a:pPr>
            <a:r>
              <a:t>India-entry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514600"/>
            <a:ext cx="3090672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17233D"/>
                </a:solidFill>
                <a:latin typeface="Aptos"/>
              </a:defRPr>
            </a:pPr>
            <a:r>
              <a:t>NEEDS</a:t>
            </a:r>
          </a:p>
          <a:p>
            <a:pPr algn="l">
              <a:spcAft>
                <a:spcPts val="400"/>
              </a:spcAft>
              <a:defRPr sz="1100" b="0" i="0">
                <a:solidFill>
                  <a:srgbClr val="17233D"/>
                </a:solidFill>
                <a:latin typeface="Aptos"/>
              </a:defRPr>
            </a:pPr>
            <a:r>
              <a:t>A defensible shortlist of cities, setup routes and partners.</a:t>
            </a:r>
          </a:p>
          <a:p>
            <a:pPr algn="l">
              <a:spcAft>
                <a:spcPts val="400"/>
              </a:spcAft>
              <a:defRPr sz="1100" b="0" i="0">
                <a:solidFill>
                  <a:srgbClr val="17233D"/>
                </a:solidFill>
                <a:latin typeface="Aptos"/>
              </a:defRPr>
            </a:pPr>
          </a:p>
          <a:p>
            <a:pPr algn="l">
              <a:spcAft>
                <a:spcPts val="400"/>
              </a:spcAft>
              <a:defRPr sz="1100" b="0" i="0">
                <a:solidFill>
                  <a:srgbClr val="17233D"/>
                </a:solidFill>
                <a:latin typeface="Aptos"/>
              </a:defRPr>
            </a:pPr>
            <a:r>
              <a:t>TODAY</a:t>
            </a:r>
          </a:p>
          <a:p>
            <a:pPr algn="l">
              <a:spcAft>
                <a:spcPts val="400"/>
              </a:spcAft>
              <a:defRPr sz="1100" b="0" i="0">
                <a:solidFill>
                  <a:srgbClr val="17233D"/>
                </a:solidFill>
                <a:latin typeface="Aptos"/>
              </a:defRPr>
            </a:pPr>
            <a:r>
              <a:t>Consultant reports + spreadsheets + local introductions.</a:t>
            </a:r>
          </a:p>
          <a:p>
            <a:pPr algn="l">
              <a:spcAft>
                <a:spcPts val="400"/>
              </a:spcAft>
              <a:defRPr sz="1100" b="0" i="0">
                <a:solidFill>
                  <a:srgbClr val="17233D"/>
                </a:solidFill>
                <a:latin typeface="Aptos"/>
              </a:defRPr>
            </a:pPr>
          </a:p>
          <a:p>
            <a:pPr algn="l">
              <a:spcAft>
                <a:spcPts val="400"/>
              </a:spcAft>
              <a:defRPr sz="1100" b="0" i="0">
                <a:solidFill>
                  <a:srgbClr val="17233D"/>
                </a:solidFill>
                <a:latin typeface="Aptos"/>
              </a:defRPr>
            </a:pPr>
            <a:r>
              <a:t>RISK</a:t>
            </a:r>
          </a:p>
          <a:p>
            <a:pPr algn="l">
              <a:spcAft>
                <a:spcPts val="400"/>
              </a:spcAft>
              <a:defRPr sz="1100" b="0" i="0">
                <a:solidFill>
                  <a:srgbClr val="17233D"/>
                </a:solidFill>
                <a:latin typeface="Aptos"/>
              </a:defRPr>
            </a:pPr>
            <a:r>
              <a:t>Slow synthesis; hard to separate comparable facts from claims.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1874519"/>
            <a:ext cx="3474720" cy="3337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52544" y="1874519"/>
            <a:ext cx="50292" cy="3337560"/>
          </a:xfrm>
          <a:prstGeom prst="rect">
            <a:avLst/>
          </a:prstGeom>
          <a:solidFill>
            <a:srgbClr val="E7A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2039112"/>
            <a:ext cx="3090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101C3A"/>
                </a:solidFill>
                <a:latin typeface="Aptos"/>
              </a:defRPr>
            </a:pPr>
            <a:r>
              <a:t>Ecosystem provider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514600"/>
            <a:ext cx="3090672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17233D"/>
                </a:solidFill>
                <a:latin typeface="Aptos"/>
              </a:defRPr>
            </a:pPr>
            <a:r>
              <a:t>NEEDS</a:t>
            </a:r>
          </a:p>
          <a:p>
            <a:pPr algn="l">
              <a:spcAft>
                <a:spcPts val="400"/>
              </a:spcAft>
              <a:defRPr sz="1100" b="0" i="0">
                <a:solidFill>
                  <a:srgbClr val="17233D"/>
                </a:solidFill>
                <a:latin typeface="Aptos"/>
              </a:defRPr>
            </a:pPr>
            <a:r>
              <a:t>Reach buyers with the right project context and show relevant delivery proof.</a:t>
            </a:r>
          </a:p>
          <a:p>
            <a:pPr algn="l">
              <a:spcAft>
                <a:spcPts val="400"/>
              </a:spcAft>
              <a:defRPr sz="1100" b="0" i="0">
                <a:solidFill>
                  <a:srgbClr val="17233D"/>
                </a:solidFill>
                <a:latin typeface="Aptos"/>
              </a:defRPr>
            </a:pPr>
          </a:p>
          <a:p>
            <a:pPr algn="l">
              <a:spcAft>
                <a:spcPts val="400"/>
              </a:spcAft>
              <a:defRPr sz="1100" b="0" i="0">
                <a:solidFill>
                  <a:srgbClr val="17233D"/>
                </a:solidFill>
                <a:latin typeface="Aptos"/>
              </a:defRPr>
            </a:pPr>
            <a:r>
              <a:t>TODAY</a:t>
            </a:r>
          </a:p>
          <a:p>
            <a:pPr algn="l">
              <a:spcAft>
                <a:spcPts val="400"/>
              </a:spcAft>
              <a:defRPr sz="1100" b="0" i="0">
                <a:solidFill>
                  <a:srgbClr val="17233D"/>
                </a:solidFill>
                <a:latin typeface="Aptos"/>
              </a:defRPr>
            </a:pPr>
            <a:r>
              <a:t>Broad marketing, RFPs and relationship-led referrals.</a:t>
            </a:r>
          </a:p>
          <a:p>
            <a:pPr algn="l">
              <a:spcAft>
                <a:spcPts val="400"/>
              </a:spcAft>
              <a:defRPr sz="1100" b="0" i="0">
                <a:solidFill>
                  <a:srgbClr val="17233D"/>
                </a:solidFill>
                <a:latin typeface="Aptos"/>
              </a:defRPr>
            </a:pPr>
          </a:p>
          <a:p>
            <a:pPr algn="l">
              <a:spcAft>
                <a:spcPts val="400"/>
              </a:spcAft>
              <a:defRPr sz="1100" b="0" i="0">
                <a:solidFill>
                  <a:srgbClr val="17233D"/>
                </a:solidFill>
                <a:latin typeface="Aptos"/>
              </a:defRPr>
            </a:pPr>
            <a:r>
              <a:t>RISK</a:t>
            </a:r>
          </a:p>
          <a:p>
            <a:pPr algn="l">
              <a:spcAft>
                <a:spcPts val="400"/>
              </a:spcAft>
              <a:defRPr sz="1100" b="0" i="0">
                <a:solidFill>
                  <a:srgbClr val="17233D"/>
                </a:solidFill>
                <a:latin typeface="Aptos"/>
              </a:defRPr>
            </a:pPr>
            <a:r>
              <a:t>Discovery rewards visibility, not necessarily verified fit.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874519"/>
            <a:ext cx="3474720" cy="3337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874519"/>
            <a:ext cx="50292" cy="3337560"/>
          </a:xfrm>
          <a:prstGeom prst="rect">
            <a:avLst/>
          </a:prstGeom>
          <a:solidFill>
            <a:srgbClr val="E5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2039112"/>
            <a:ext cx="3090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101C3A"/>
                </a:solidFill>
                <a:latin typeface="Aptos"/>
              </a:defRPr>
            </a:pPr>
            <a:r>
              <a:t>Advisor / ecosystem body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514600"/>
            <a:ext cx="3090672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17233D"/>
                </a:solidFill>
                <a:latin typeface="Aptos"/>
              </a:defRPr>
            </a:pPr>
            <a:r>
              <a:t>NEEDS</a:t>
            </a:r>
          </a:p>
          <a:p>
            <a:pPr algn="l">
              <a:spcAft>
                <a:spcPts val="400"/>
              </a:spcAft>
              <a:defRPr sz="1100" b="0" i="0">
                <a:solidFill>
                  <a:srgbClr val="17233D"/>
                </a:solidFill>
                <a:latin typeface="Aptos"/>
              </a:defRPr>
            </a:pPr>
            <a:r>
              <a:t>Reusable, current evidence and a clearer handoff across stakeholders.</a:t>
            </a:r>
          </a:p>
          <a:p>
            <a:pPr algn="l">
              <a:spcAft>
                <a:spcPts val="400"/>
              </a:spcAft>
              <a:defRPr sz="1100" b="0" i="0">
                <a:solidFill>
                  <a:srgbClr val="17233D"/>
                </a:solidFill>
                <a:latin typeface="Aptos"/>
              </a:defRPr>
            </a:pPr>
          </a:p>
          <a:p>
            <a:pPr algn="l">
              <a:spcAft>
                <a:spcPts val="400"/>
              </a:spcAft>
              <a:defRPr sz="1100" b="0" i="0">
                <a:solidFill>
                  <a:srgbClr val="17233D"/>
                </a:solidFill>
                <a:latin typeface="Aptos"/>
              </a:defRPr>
            </a:pPr>
            <a:r>
              <a:t>TODAY</a:t>
            </a:r>
          </a:p>
          <a:p>
            <a:pPr algn="l">
              <a:spcAft>
                <a:spcPts val="400"/>
              </a:spcAft>
              <a:defRPr sz="1100" b="0" i="0">
                <a:solidFill>
                  <a:srgbClr val="17233D"/>
                </a:solidFill>
                <a:latin typeface="Aptos"/>
              </a:defRPr>
            </a:pPr>
            <a:r>
              <a:t>Repeated desk research and private knowledge networks.</a:t>
            </a:r>
          </a:p>
          <a:p>
            <a:pPr algn="l">
              <a:spcAft>
                <a:spcPts val="400"/>
              </a:spcAft>
              <a:defRPr sz="1100" b="0" i="0">
                <a:solidFill>
                  <a:srgbClr val="17233D"/>
                </a:solidFill>
                <a:latin typeface="Aptos"/>
              </a:defRPr>
            </a:pPr>
          </a:p>
          <a:p>
            <a:pPr algn="l">
              <a:spcAft>
                <a:spcPts val="400"/>
              </a:spcAft>
              <a:defRPr sz="1100" b="0" i="0">
                <a:solidFill>
                  <a:srgbClr val="17233D"/>
                </a:solidFill>
                <a:latin typeface="Aptos"/>
              </a:defRPr>
            </a:pPr>
            <a:r>
              <a:t>RISK</a:t>
            </a:r>
          </a:p>
          <a:p>
            <a:pPr algn="l">
              <a:spcAft>
                <a:spcPts val="400"/>
              </a:spcAft>
              <a:defRPr sz="1100" b="0" i="0">
                <a:solidFill>
                  <a:srgbClr val="17233D"/>
                </a:solidFill>
                <a:latin typeface="Aptos"/>
              </a:defRPr>
            </a:pPr>
            <a:r>
              <a:t>Work is hard to reuse; evidence trails are inconsistent.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5468112"/>
            <a:ext cx="4206240" cy="265176"/>
          </a:xfrm>
          <a:prstGeom prst="roundRect">
            <a:avLst/>
          </a:prstGeom>
          <a:solidFill>
            <a:srgbClr val="FFF1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5481828"/>
            <a:ext cx="4096511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800" b="1" i="0">
                <a:solidFill>
                  <a:srgbClr val="80560E"/>
                </a:solidFill>
                <a:latin typeface="Aptos"/>
              </a:defRPr>
            </a:pPr>
            <a:r>
              <a:t>WORKING HYPOTHESES — VALIDATE THROUGH BUYER INTERVIEWS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" y="6336792"/>
            <a:ext cx="9875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750" b="0" i="0">
                <a:solidFill>
                  <a:srgbClr val="62708A"/>
                </a:solidFill>
                <a:latin typeface="Aptos"/>
              </a:defRPr>
            </a:pPr>
            <a:r>
              <a:t>Current workarounds and impacts are hypotheses drawn from the assignment brief, not measured outcomes.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6565392"/>
            <a:ext cx="3200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  <a:defRPr sz="700" b="1" i="0">
                <a:solidFill>
                  <a:srgbClr val="62708A"/>
                </a:solidFill>
                <a:latin typeface="Aptos"/>
              </a:defRPr>
            </a:pPr>
            <a:r>
              <a:t>GCC COMPASS  /  PRODUCT INTERN ASSIGNMENT        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16AFA2"/>
                </a:solidFill>
                <a:latin typeface="Aptos"/>
              </a:defRPr>
            </a:pPr>
            <a:r>
              <a:t>03 / WHERE TO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881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2800" b="1" i="0">
                <a:solidFill>
                  <a:srgbClr val="101C3A"/>
                </a:solidFill>
                <a:latin typeface="Aptos Display"/>
              </a:defRPr>
            </a:pPr>
            <a:r>
              <a:t>Start where evidence changes a consequential decision.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25296"/>
            <a:ext cx="107899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62708A"/>
                </a:solidFill>
                <a:latin typeface="Aptos"/>
              </a:defRPr>
            </a:pPr>
            <a:r>
              <a:t>Priority is based on problem fit and evidence feasibility—not a market-size score.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901952"/>
            <a:ext cx="10863072" cy="7680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2093976"/>
            <a:ext cx="4754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200" b="1" i="0">
                <a:solidFill>
                  <a:srgbClr val="16AFA2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02082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400" b="1" i="0">
                <a:solidFill>
                  <a:srgbClr val="101C3A"/>
                </a:solidFill>
                <a:latin typeface="Aptos"/>
              </a:defRPr>
            </a:pPr>
            <a:r>
              <a:t>Entry research workspace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33087" y="2029968"/>
            <a:ext cx="55961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150" b="0" i="0">
                <a:solidFill>
                  <a:srgbClr val="62708A"/>
                </a:solidFill>
                <a:latin typeface="Aptos"/>
              </a:defRPr>
            </a:pPr>
            <a:r>
              <a:t>GCC activity + city comparison with source-linked claims.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76104" y="2130552"/>
            <a:ext cx="1207008" cy="265176"/>
          </a:xfrm>
          <a:prstGeom prst="roundRect">
            <a:avLst/>
          </a:prstGeom>
          <a:solidFill>
            <a:srgbClr val="DD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30968" y="214426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800" b="1" i="0">
                <a:solidFill>
                  <a:srgbClr val="16AFA2"/>
                </a:solidFill>
                <a:latin typeface="Aptos"/>
              </a:defRPr>
            </a:pPr>
            <a:r>
              <a:t>NOW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834640"/>
            <a:ext cx="10863072" cy="7680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3026664"/>
            <a:ext cx="4754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200" b="1" i="0">
                <a:solidFill>
                  <a:srgbClr val="4169A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95351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400" b="1" i="0">
                <a:solidFill>
                  <a:srgbClr val="101C3A"/>
                </a:solidFill>
                <a:latin typeface="Aptos"/>
              </a:defRPr>
            </a:pPr>
            <a:r>
              <a:t>Claim provenance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33087" y="2962656"/>
            <a:ext cx="55961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150" b="0" i="0">
                <a:solidFill>
                  <a:srgbClr val="62708A"/>
                </a:solidFill>
                <a:latin typeface="Aptos"/>
              </a:defRPr>
            </a:pPr>
            <a:r>
              <a:t>Show source, date, unit, status and what remains unverified.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76104" y="3063240"/>
            <a:ext cx="1207008" cy="265176"/>
          </a:xfrm>
          <a:prstGeom prst="roundRect">
            <a:avLst/>
          </a:prstGeom>
          <a:solidFill>
            <a:srgbClr val="E9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30968" y="3076956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800" b="1" i="0">
                <a:solidFill>
                  <a:srgbClr val="4169A1"/>
                </a:solidFill>
                <a:latin typeface="Aptos"/>
              </a:defRPr>
            </a:pPr>
            <a:r>
              <a:t>FOUNDATION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767328"/>
            <a:ext cx="10863072" cy="7680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3959352"/>
            <a:ext cx="4754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200" b="1" i="0">
                <a:solidFill>
                  <a:srgbClr val="E7A84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8862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400" b="1" i="0">
                <a:solidFill>
                  <a:srgbClr val="101C3A"/>
                </a:solidFill>
                <a:latin typeface="Aptos"/>
              </a:defRPr>
            </a:pPr>
            <a:r>
              <a:t>Proof-backed provider discovery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33087" y="3895344"/>
            <a:ext cx="55961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150" b="0" i="0">
                <a:solidFill>
                  <a:srgbClr val="62708A"/>
                </a:solidFill>
                <a:latin typeface="Aptos"/>
              </a:defRPr>
            </a:pPr>
            <a:r>
              <a:t>Make delivery evidence and references useful in shortlisting.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76104" y="3995928"/>
            <a:ext cx="1207008" cy="265176"/>
          </a:xfrm>
          <a:prstGeom prst="roundRect">
            <a:avLst/>
          </a:prstGeom>
          <a:solidFill>
            <a:srgbClr val="FFF1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30968" y="400964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800" b="1" i="0">
                <a:solidFill>
                  <a:srgbClr val="E7A846"/>
                </a:solidFill>
                <a:latin typeface="Aptos"/>
              </a:defRPr>
            </a:pPr>
            <a:r>
              <a:t>NEXT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700016"/>
            <a:ext cx="10863072" cy="7680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4892040"/>
            <a:ext cx="4754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200" b="1" i="0">
                <a:solidFill>
                  <a:srgbClr val="E56B6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481888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400" b="1" i="0">
                <a:solidFill>
                  <a:srgbClr val="101C3A"/>
                </a:solidFill>
                <a:latin typeface="Aptos"/>
              </a:defRPr>
            </a:pPr>
            <a:r>
              <a:t>Live benchmarks + alerts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33087" y="4828032"/>
            <a:ext cx="55961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150" b="0" i="0">
                <a:solidFill>
                  <a:srgbClr val="62708A"/>
                </a:solidFill>
                <a:latin typeface="Aptos"/>
              </a:defRPr>
            </a:pPr>
            <a:r>
              <a:t>Policy eligibility, talent cost, rent and emerging signals.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976104" y="4928616"/>
            <a:ext cx="1207008" cy="265176"/>
          </a:xfrm>
          <a:prstGeom prst="roundRect">
            <a:avLst/>
          </a:prstGeom>
          <a:solidFill>
            <a:srgbClr val="FCE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30968" y="494233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800" b="1" i="0">
                <a:solidFill>
                  <a:srgbClr val="E56B62"/>
                </a:solidFill>
                <a:latin typeface="Aptos"/>
              </a:defRPr>
            </a:pPr>
            <a:r>
              <a:t>LATER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5907024"/>
            <a:ext cx="10424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101C3A"/>
                </a:solidFill>
                <a:latin typeface="Aptos"/>
              </a:defRPr>
            </a:pPr>
            <a:r>
              <a:t>Why this wedge: it tackles the core asymmetry while using public and already-published material; it does not require audited private benchmarks to be useful.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6565392"/>
            <a:ext cx="3200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  <a:defRPr sz="700" b="1" i="0">
                <a:solidFill>
                  <a:srgbClr val="62708A"/>
                </a:solidFill>
                <a:latin typeface="Aptos"/>
              </a:defRPr>
            </a:pPr>
            <a:r>
              <a:t>GCC COMPASS  /  PRODUCT INTERN ASSIGNMENT        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16AFA2"/>
                </a:solidFill>
                <a:latin typeface="Aptos"/>
              </a:defRPr>
            </a:pPr>
            <a:r>
              <a:t>04 / 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881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2800" b="1" i="0">
                <a:solidFill>
                  <a:srgbClr val="101C3A"/>
                </a:solidFill>
                <a:latin typeface="Aptos Display"/>
              </a:defRPr>
            </a:pPr>
            <a:r>
              <a:t>One question. An evidence trail—not a confident guess.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25296"/>
            <a:ext cx="107899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62708A"/>
                </a:solidFill>
                <a:latin typeface="Aptos"/>
              </a:defRPr>
            </a:pPr>
            <a:r>
              <a:t>GCC Compass turns a broad research prompt into passages and records a user can inspect.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6903720" cy="40965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828800"/>
            <a:ext cx="6903720" cy="438912"/>
          </a:xfrm>
          <a:prstGeom prst="roundRect">
            <a:avLst/>
          </a:prstGeom>
          <a:solidFill>
            <a:srgbClr val="10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47672"/>
            <a:ext cx="5212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GCC COMPASS  /  RESEARCH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8775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800" b="1" i="0">
                <a:solidFill>
                  <a:srgbClr val="16AFA2"/>
                </a:solidFill>
                <a:latin typeface="Aptos"/>
              </a:defRPr>
            </a:pPr>
            <a:r>
              <a:t>ASK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" y="2843784"/>
            <a:ext cx="6336792" cy="566928"/>
          </a:xfrm>
          <a:prstGeom prst="roundRect">
            <a:avLst/>
          </a:prstGeom>
          <a:solidFill>
            <a:srgbClr val="F5F7FB"/>
          </a:solidFill>
          <a:ln w="10160"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2999232"/>
            <a:ext cx="5943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101C3A"/>
                </a:solidFill>
                <a:latin typeface="Aptos"/>
              </a:defRPr>
            </a:pPr>
            <a:r>
              <a:t>Where are the main GCC hubs?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639312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800" b="1" i="0">
                <a:solidFill>
                  <a:srgbClr val="62708A"/>
                </a:solidFill>
                <a:latin typeface="Aptos"/>
              </a:defRPr>
            </a:pPr>
            <a:r>
              <a:t>RETRIEVED SOURCE PASSAGE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" y="3895344"/>
            <a:ext cx="6336792" cy="1161288"/>
          </a:xfrm>
          <a:prstGeom prst="roundRect">
            <a:avLst/>
          </a:prstGeom>
          <a:solidFill>
            <a:srgbClr val="F7FAFE"/>
          </a:solidFill>
          <a:ln w="10160"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4078224"/>
            <a:ext cx="5925312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300" b="1" i="0">
                <a:solidFill>
                  <a:srgbClr val="17233D"/>
                </a:solidFill>
                <a:latin typeface="Aptos"/>
              </a:defRPr>
            </a:pPr>
            <a:r>
              <a:t>“Major clusters in Bengaluru, Hyderabad, Pune, Chennai, Mumbai and the National Capital Region.”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4690872"/>
            <a:ext cx="3566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900" b="0" i="0">
                <a:solidFill>
                  <a:srgbClr val="62708A"/>
                </a:solidFill>
                <a:latin typeface="Aptos"/>
              </a:defRPr>
            </a:pPr>
            <a:r>
              <a:t>Government of India report · p.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30368" y="4681728"/>
            <a:ext cx="1664208" cy="265176"/>
          </a:xfrm>
          <a:prstGeom prst="roundRect">
            <a:avLst/>
          </a:prstGeom>
          <a:solidFill>
            <a:srgbClr val="DD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85231" y="4695444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800" b="1" i="0">
                <a:solidFill>
                  <a:srgbClr val="16AFA2"/>
                </a:solidFill>
                <a:latin typeface="Aptos"/>
              </a:defRPr>
            </a:pPr>
            <a:r>
              <a:t>VERIFIED SOURCE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5321808"/>
            <a:ext cx="6309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050" b="0" i="0">
                <a:solidFill>
                  <a:srgbClr val="62708A"/>
                </a:solidFill>
                <a:latin typeface="Aptos"/>
              </a:defRPr>
            </a:pPr>
            <a:r>
              <a:t>A different prompt with no supporting passage returns “No matching passage found.”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82127" y="1828800"/>
            <a:ext cx="3630168" cy="19019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82127" y="1828800"/>
            <a:ext cx="50292" cy="1901952"/>
          </a:xfrm>
          <a:prstGeom prst="rect">
            <a:avLst/>
          </a:prstGeom>
          <a:solidFill>
            <a:srgbClr val="16A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83296" y="199339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101C3A"/>
                </a:solidFill>
                <a:latin typeface="Aptos"/>
              </a:defRPr>
            </a:pPr>
            <a:r>
              <a:t>A decision path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3296" y="2468880"/>
            <a:ext cx="3246120" cy="1124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150" b="0" i="0">
                <a:solidFill>
                  <a:srgbClr val="17233D"/>
                </a:solidFill>
                <a:latin typeface="Aptos"/>
              </a:defRPr>
            </a:pPr>
            <a:r>
              <a:t>Find candidate evidence</a:t>
            </a:r>
          </a:p>
          <a:p>
            <a:pPr algn="l">
              <a:spcAft>
                <a:spcPts val="400"/>
              </a:spcAft>
              <a:defRPr sz="1150" b="0" i="0">
                <a:solidFill>
                  <a:srgbClr val="17233D"/>
                </a:solidFill>
                <a:latin typeface="Aptos"/>
              </a:defRPr>
            </a:pPr>
            <a:r>
              <a:t>Compare without a universal score</a:t>
            </a:r>
          </a:p>
          <a:p>
            <a:pPr algn="l">
              <a:spcAft>
                <a:spcPts val="400"/>
              </a:spcAft>
              <a:defRPr sz="1150" b="0" i="0">
                <a:solidFill>
                  <a:srgbClr val="17233D"/>
                </a:solidFill>
                <a:latin typeface="Aptos"/>
              </a:defRPr>
            </a:pPr>
            <a:r>
              <a:t>Open the original source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82127" y="3986784"/>
            <a:ext cx="3630168" cy="19385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882127" y="3986784"/>
            <a:ext cx="50292" cy="1938528"/>
          </a:xfrm>
          <a:prstGeom prst="rect">
            <a:avLst/>
          </a:prstGeom>
          <a:solidFill>
            <a:srgbClr val="E7A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83296" y="4151376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400" b="1" i="0">
                <a:solidFill>
                  <a:srgbClr val="101C3A"/>
                </a:solidFill>
                <a:latin typeface="Aptos"/>
              </a:defRPr>
            </a:pPr>
            <a:r>
              <a:t>The user’s job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83296" y="4626864"/>
            <a:ext cx="3246120" cy="1161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17233D"/>
                </a:solidFill>
                <a:latin typeface="Aptos"/>
              </a:defRPr>
            </a:pPr>
            <a:r>
              <a:t>“Help me decide where to start and who to engage — and show what each recommendation rests on.”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" y="6336792"/>
            <a:ext cx="9875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750" b="0" i="0">
                <a:solidFill>
                  <a:srgbClr val="62708A"/>
                </a:solidFill>
                <a:latin typeface="Aptos"/>
              </a:defRPr>
            </a:pPr>
            <a:r>
              <a:t>Source: Government of India / PIB report, 11 Dec 2025, p. 2. Prototype displays the original source link and page citation.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6565392"/>
            <a:ext cx="3200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  <a:defRPr sz="700" b="1" i="0">
                <a:solidFill>
                  <a:srgbClr val="62708A"/>
                </a:solidFill>
                <a:latin typeface="Aptos"/>
              </a:defRPr>
            </a:pPr>
            <a:r>
              <a:t>GCC COMPASS  /  PRODUCT INTERN ASSIGNMENT        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16AFA2"/>
                </a:solidFill>
                <a:latin typeface="Aptos"/>
              </a:defRPr>
            </a:pPr>
            <a:r>
              <a:t>05 / TRUST BY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881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2800" b="1" i="0">
                <a:solidFill>
                  <a:srgbClr val="101C3A"/>
                </a:solidFill>
                <a:latin typeface="Aptos Display"/>
              </a:defRPr>
            </a:pPr>
            <a:r>
              <a:t>The moat is the evidence graph, not the chatbot.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25296"/>
            <a:ext cx="107899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62708A"/>
                </a:solidFill>
                <a:latin typeface="Aptos"/>
              </a:defRPr>
            </a:pPr>
            <a:r>
              <a:t>A useful answer starts with a defensible source chain; richer synthesis can come later, only if evidence quality supports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011680"/>
            <a:ext cx="1920240" cy="1645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194560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16AFA2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532888"/>
            <a:ext cx="1627632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101C3A"/>
                </a:solidFill>
                <a:latin typeface="Aptos"/>
              </a:defRPr>
            </a:pPr>
            <a:r>
              <a:t>Collect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971800"/>
            <a:ext cx="1627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000" b="0" i="0">
                <a:solidFill>
                  <a:srgbClr val="62708A"/>
                </a:solidFill>
                <a:latin typeface="Aptos"/>
              </a:defRPr>
            </a:pPr>
            <a:r>
              <a:t>Public reports</a:t>
            </a:r>
          </a:p>
          <a:p>
            <a:pPr algn="l">
              <a:spcAft>
                <a:spcPts val="400"/>
              </a:spcAft>
              <a:defRPr sz="1000" b="0" i="0">
                <a:solidFill>
                  <a:srgbClr val="62708A"/>
                </a:solidFill>
                <a:latin typeface="Aptos"/>
              </a:defRPr>
            </a:pPr>
            <a:r>
              <a:t>policy pages</a:t>
            </a:r>
          </a:p>
          <a:p>
            <a:pPr algn="l">
              <a:spcAft>
                <a:spcPts val="400"/>
              </a:spcAft>
              <a:defRPr sz="1000" b="0" i="0">
                <a:solidFill>
                  <a:srgbClr val="62708A"/>
                </a:solidFill>
                <a:latin typeface="Aptos"/>
              </a:defRPr>
            </a:pPr>
            <a:r>
              <a:t>company signals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96896" y="26700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  <a:defRPr sz="1500" b="1" i="0">
                <a:solidFill>
                  <a:srgbClr val="16AFA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0360" y="2011680"/>
            <a:ext cx="1920240" cy="1645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26664" y="2194560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16AFA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26664" y="2532888"/>
            <a:ext cx="1627632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101C3A"/>
                </a:solidFill>
                <a:latin typeface="Aptos"/>
              </a:defRPr>
            </a:pPr>
            <a:r>
              <a:t>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26664" y="2971800"/>
            <a:ext cx="1627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000" b="0" i="0">
                <a:solidFill>
                  <a:srgbClr val="62708A"/>
                </a:solidFill>
                <a:latin typeface="Aptos"/>
              </a:defRPr>
            </a:pPr>
            <a:r>
              <a:t>Normalize entity</a:t>
            </a:r>
          </a:p>
          <a:p>
            <a:pPr algn="l">
              <a:spcAft>
                <a:spcPts val="400"/>
              </a:spcAft>
              <a:defRPr sz="1000" b="0" i="0">
                <a:solidFill>
                  <a:srgbClr val="62708A"/>
                </a:solidFill>
                <a:latin typeface="Aptos"/>
              </a:defRPr>
            </a:pPr>
            <a:r>
              <a:t>city, date, unit</a:t>
            </a:r>
          </a:p>
          <a:p>
            <a:pPr algn="l">
              <a:spcAft>
                <a:spcPts val="400"/>
              </a:spcAft>
              <a:defRPr sz="1000" b="0" i="0">
                <a:solidFill>
                  <a:srgbClr val="62708A"/>
                </a:solidFill>
                <a:latin typeface="Aptos"/>
              </a:defRPr>
            </a:pPr>
            <a:r>
              <a:t>and claim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18888" y="26700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  <a:defRPr sz="1500" b="1" i="0">
                <a:solidFill>
                  <a:srgbClr val="16AFA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02352" y="2011680"/>
            <a:ext cx="1920240" cy="1645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48656" y="2194560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16AFA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48656" y="2532888"/>
            <a:ext cx="1627632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101C3A"/>
                </a:solidFill>
                <a:latin typeface="Aptos"/>
              </a:defRPr>
            </a:pPr>
            <a:r>
              <a:t>Qualify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48656" y="2971800"/>
            <a:ext cx="1627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000" b="0" i="0">
                <a:solidFill>
                  <a:srgbClr val="62708A"/>
                </a:solidFill>
                <a:latin typeface="Aptos"/>
              </a:defRPr>
            </a:pPr>
            <a:r>
              <a:t>Evidence status</a:t>
            </a:r>
          </a:p>
          <a:p>
            <a:pPr algn="l">
              <a:spcAft>
                <a:spcPts val="400"/>
              </a:spcAft>
              <a:defRPr sz="1000" b="0" i="0">
                <a:solidFill>
                  <a:srgbClr val="62708A"/>
                </a:solidFill>
                <a:latin typeface="Aptos"/>
              </a:defRPr>
            </a:pPr>
            <a:r>
              <a:t>source strength</a:t>
            </a:r>
          </a:p>
          <a:p>
            <a:pPr algn="l">
              <a:spcAft>
                <a:spcPts val="400"/>
              </a:spcAft>
              <a:defRPr sz="1000" b="0" i="0">
                <a:solidFill>
                  <a:srgbClr val="62708A"/>
                </a:solidFill>
                <a:latin typeface="Aptos"/>
              </a:defRPr>
            </a:pPr>
            <a:r>
              <a:t>freshness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26700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  <a:defRPr sz="1500" b="1" i="0">
                <a:solidFill>
                  <a:srgbClr val="16AFA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24344" y="2011680"/>
            <a:ext cx="1920240" cy="1645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70648" y="2194560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16AFA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70648" y="2532888"/>
            <a:ext cx="1627632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101C3A"/>
                </a:solidFill>
                <a:latin typeface="Aptos"/>
              </a:defRPr>
            </a:pPr>
            <a:r>
              <a:t>Retrieve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70648" y="2971800"/>
            <a:ext cx="1627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000" b="0" i="0">
                <a:solidFill>
                  <a:srgbClr val="62708A"/>
                </a:solidFill>
                <a:latin typeface="Aptos"/>
              </a:defRPr>
            </a:pPr>
            <a:r>
              <a:t>Rank relevant</a:t>
            </a:r>
          </a:p>
          <a:p>
            <a:pPr algn="l">
              <a:spcAft>
                <a:spcPts val="400"/>
              </a:spcAft>
              <a:defRPr sz="1000" b="0" i="0">
                <a:solidFill>
                  <a:srgbClr val="62708A"/>
                </a:solidFill>
                <a:latin typeface="Aptos"/>
              </a:defRPr>
            </a:pPr>
            <a:r>
              <a:t>passages; keep</a:t>
            </a:r>
          </a:p>
          <a:p>
            <a:pPr algn="l">
              <a:spcAft>
                <a:spcPts val="400"/>
              </a:spcAft>
              <a:defRPr sz="1000" b="0" i="0">
                <a:solidFill>
                  <a:srgbClr val="62708A"/>
                </a:solidFill>
                <a:latin typeface="Aptos"/>
              </a:defRPr>
            </a:pPr>
            <a:r>
              <a:t>citation attached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62872" y="26700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  <a:defRPr sz="1500" b="1" i="0">
                <a:solidFill>
                  <a:srgbClr val="16AFA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46336" y="2011680"/>
            <a:ext cx="1920240" cy="1645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2640" y="2194560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16AFA2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2532888"/>
            <a:ext cx="1627632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101C3A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2971800"/>
            <a:ext cx="1627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000" b="0" i="0">
                <a:solidFill>
                  <a:srgbClr val="62708A"/>
                </a:solidFill>
                <a:latin typeface="Aptos"/>
              </a:defRPr>
            </a:pPr>
            <a:r>
              <a:t>User verifies,</a:t>
            </a:r>
          </a:p>
          <a:p>
            <a:pPr algn="l">
              <a:spcAft>
                <a:spcPts val="400"/>
              </a:spcAft>
              <a:defRPr sz="1000" b="0" i="0">
                <a:solidFill>
                  <a:srgbClr val="62708A"/>
                </a:solidFill>
                <a:latin typeface="Aptos"/>
              </a:defRPr>
            </a:pPr>
            <a:r>
              <a:t>corrects or flags</a:t>
            </a:r>
          </a:p>
          <a:p>
            <a:pPr algn="l">
              <a:spcAft>
                <a:spcPts val="400"/>
              </a:spcAft>
              <a:defRPr sz="1000" b="0" i="0">
                <a:solidFill>
                  <a:srgbClr val="62708A"/>
                </a:solidFill>
                <a:latin typeface="Aptos"/>
              </a:defRPr>
            </a:pPr>
            <a:r>
              <a:t>the record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069080"/>
            <a:ext cx="6492240" cy="1371600"/>
          </a:xfrm>
          <a:prstGeom prst="roundRect">
            <a:avLst/>
          </a:prstGeom>
          <a:solidFill>
            <a:srgbClr val="10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4279392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6BE0D3"/>
                </a:solidFill>
                <a:latin typeface="Aptos"/>
              </a:defRPr>
            </a:pPr>
            <a:r>
              <a:t>PROTOTYPE TODAY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" y="4599432"/>
            <a:ext cx="592531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t>Local PDF/CSV extraction + lexical ranking + citations. Arithmetic stays bounded. No LLM, API or local model.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60920" y="4069080"/>
            <a:ext cx="4151376" cy="1371600"/>
          </a:xfrm>
          <a:prstGeom prst="roundRect">
            <a:avLst/>
          </a:prstGeom>
          <a:solidFill>
            <a:srgbClr val="FFF1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98664" y="4279392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80560E"/>
                </a:solidFill>
                <a:latin typeface="Aptos"/>
              </a:defRPr>
            </a:pPr>
            <a:r>
              <a:t>NON-NEGOTIABLE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98664" y="4599432"/>
            <a:ext cx="363931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200" b="1" i="0">
                <a:solidFill>
                  <a:srgbClr val="17233D"/>
                </a:solidFill>
                <a:latin typeface="Aptos"/>
              </a:defRPr>
            </a:pPr>
            <a:r>
              <a:t>No source, no claim. A catalogue note is not a source passage; a provider profile is not delivery proof.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6565392"/>
            <a:ext cx="3200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  <a:defRPr sz="700" b="1" i="0">
                <a:solidFill>
                  <a:srgbClr val="62708A"/>
                </a:solidFill>
                <a:latin typeface="Aptos"/>
              </a:defRPr>
            </a:pPr>
            <a:r>
              <a:t>GCC COMPASS  /  PRODUCT INTERN ASSIGNMENT        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16AFA2"/>
                </a:solidFill>
                <a:latin typeface="Aptos"/>
              </a:defRPr>
            </a:pPr>
            <a:r>
              <a:t>06 /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881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2800" b="1" i="0">
                <a:solidFill>
                  <a:srgbClr val="101C3A"/>
                </a:solidFill>
                <a:latin typeface="Aptos Display"/>
              </a:defRPr>
            </a:pPr>
            <a:r>
              <a:t>A decision workspace across the setup journey.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25296"/>
            <a:ext cx="107899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62708A"/>
                </a:solidFill>
                <a:latin typeface="Aptos"/>
              </a:defRPr>
            </a:pPr>
            <a:r>
              <a:t>Complement consultants and primary sources; replace the repeated stitching between PDFs, pitches, referrals and spreadsheets.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5321808" cy="16276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50292" cy="1627632"/>
          </a:xfrm>
          <a:prstGeom prst="rect">
            <a:avLst/>
          </a:prstGeom>
          <a:solidFill>
            <a:srgbClr val="16A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993392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400" b="1" i="0">
                <a:solidFill>
                  <a:srgbClr val="101C3A"/>
                </a:solidFill>
                <a:latin typeface="Aptos"/>
              </a:defRPr>
            </a:pPr>
            <a:r>
              <a:t>GCC entrant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68880"/>
            <a:ext cx="4937760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050" b="0" i="0">
                <a:solidFill>
                  <a:srgbClr val="17233D"/>
                </a:solidFill>
                <a:latin typeface="Aptos"/>
              </a:defRPr>
            </a:pPr>
            <a:r>
              <a:t>Why come: a comparable first pass with claims linked to evidence.</a:t>
            </a:r>
          </a:p>
          <a:p>
            <a:pPr algn="l">
              <a:spcAft>
                <a:spcPts val="400"/>
              </a:spcAft>
              <a:defRPr sz="1050" b="0" i="0">
                <a:solidFill>
                  <a:srgbClr val="17233D"/>
                </a:solidFill>
                <a:latin typeface="Aptos"/>
              </a:defRPr>
            </a:pPr>
            <a:r>
              <a:t>Over today: fewer disconnected starting points.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828800"/>
            <a:ext cx="5321808" cy="16276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1828800"/>
            <a:ext cx="50292" cy="1627632"/>
          </a:xfrm>
          <a:prstGeom prst="rect">
            <a:avLst/>
          </a:prstGeom>
          <a:solidFill>
            <a:srgbClr val="E7A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91655" y="1993392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400" b="1" i="0">
                <a:solidFill>
                  <a:srgbClr val="101C3A"/>
                </a:solidFill>
                <a:latin typeface="Aptos"/>
              </a:defRPr>
            </a:pPr>
            <a:r>
              <a:t>Service provider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91655" y="2468880"/>
            <a:ext cx="4937760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050" b="0" i="0">
                <a:solidFill>
                  <a:srgbClr val="17233D"/>
                </a:solidFill>
                <a:latin typeface="Aptos"/>
              </a:defRPr>
            </a:pPr>
            <a:r>
              <a:t>Why come: context-rich discovery and a way to submit proof.</a:t>
            </a:r>
          </a:p>
          <a:p>
            <a:pPr algn="l">
              <a:spcAft>
                <a:spcPts val="400"/>
              </a:spcAft>
              <a:defRPr sz="1050" b="0" i="0">
                <a:solidFill>
                  <a:srgbClr val="17233D"/>
                </a:solidFill>
                <a:latin typeface="Aptos"/>
              </a:defRPr>
            </a:pPr>
            <a:r>
              <a:t>Over today: fit and evidence beside the listing.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794760"/>
            <a:ext cx="5321808" cy="16276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3794760"/>
            <a:ext cx="50292" cy="1627632"/>
          </a:xfrm>
          <a:prstGeom prst="rect">
            <a:avLst/>
          </a:prstGeom>
          <a:solidFill>
            <a:srgbClr val="41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3959352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400" b="1" i="0">
                <a:solidFill>
                  <a:srgbClr val="101C3A"/>
                </a:solidFill>
                <a:latin typeface="Aptos"/>
              </a:defRPr>
            </a:pPr>
            <a:r>
              <a:t>Advisor / researcher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4434840"/>
            <a:ext cx="4937760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050" b="0" i="0">
                <a:solidFill>
                  <a:srgbClr val="17233D"/>
                </a:solidFill>
                <a:latin typeface="Aptos"/>
              </a:defRPr>
            </a:pPr>
            <a:r>
              <a:t>Why come: reusable source trail and cleaner handoffs.</a:t>
            </a:r>
          </a:p>
          <a:p>
            <a:pPr algn="l">
              <a:spcAft>
                <a:spcPts val="400"/>
              </a:spcAft>
              <a:defRPr sz="1050" b="0" i="0">
                <a:solidFill>
                  <a:srgbClr val="17233D"/>
                </a:solidFill>
                <a:latin typeface="Aptos"/>
              </a:defRPr>
            </a:pPr>
            <a:r>
              <a:t>Over today: evidence can travel with the recommendation.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3794760"/>
            <a:ext cx="5321808" cy="16276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0488" y="3794760"/>
            <a:ext cx="50292" cy="1627632"/>
          </a:xfrm>
          <a:prstGeom prst="rect">
            <a:avLst/>
          </a:prstGeom>
          <a:solidFill>
            <a:srgbClr val="E5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1655" y="3959352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400" b="1" i="0">
                <a:solidFill>
                  <a:srgbClr val="101C3A"/>
                </a:solidFill>
                <a:latin typeface="Aptos"/>
              </a:defRPr>
            </a:pPr>
            <a:r>
              <a:t>State / ecosystem body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655" y="4434840"/>
            <a:ext cx="4937760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050" b="0" i="0">
                <a:solidFill>
                  <a:srgbClr val="17233D"/>
                </a:solidFill>
                <a:latin typeface="Aptos"/>
              </a:defRPr>
            </a:pPr>
            <a:r>
              <a:t>Why come: make official programmes and ecosystem signals easier to discover.</a:t>
            </a:r>
          </a:p>
          <a:p>
            <a:pPr algn="l">
              <a:spcAft>
                <a:spcPts val="400"/>
              </a:spcAft>
              <a:defRPr sz="1050" b="0" i="0">
                <a:solidFill>
                  <a:srgbClr val="17233D"/>
                </a:solidFill>
                <a:latin typeface="Aptos"/>
              </a:defRPr>
            </a:pPr>
            <a:r>
              <a:t>Over today: visibility without implying policy advice.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669280"/>
            <a:ext cx="10853928" cy="411480"/>
          </a:xfrm>
          <a:prstGeom prst="roundRect">
            <a:avLst/>
          </a:prstGeom>
          <a:solidFill>
            <a:srgbClr val="10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769864"/>
            <a:ext cx="10332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NEUTRALITY RULE  /  Paid participation can buy workflow — never evidence status or search rank.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6565392"/>
            <a:ext cx="3200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  <a:defRPr sz="700" b="1" i="0">
                <a:solidFill>
                  <a:srgbClr val="62708A"/>
                </a:solidFill>
                <a:latin typeface="Aptos"/>
              </a:defRPr>
            </a:pPr>
            <a:r>
              <a:t>GCC COMPASS  /  PRODUCT INTERN ASSIGNMENT        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16AFA2"/>
                </a:solidFill>
                <a:latin typeface="Aptos"/>
              </a:defRPr>
            </a:pPr>
            <a:r>
              <a:t>07 / SCOPE + 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881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2800" b="1" i="0">
                <a:solidFill>
                  <a:srgbClr val="101C3A"/>
                </a:solidFill>
                <a:latin typeface="Aptos Display"/>
              </a:defRPr>
            </a:pPr>
            <a:r>
              <a:t>Earn trust in one wedge before expanding the data surface.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25296"/>
            <a:ext cx="107899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62708A"/>
                </a:solidFill>
                <a:latin typeface="Aptos"/>
              </a:defRPr>
            </a:pPr>
            <a:r>
              <a:t>Initial segment: strategy / site-selection teams assessing a first India GCC or a meaningful expansion.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3474720" cy="3063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50292" cy="3063240"/>
          </a:xfrm>
          <a:prstGeom prst="rect">
            <a:avLst/>
          </a:prstGeom>
          <a:solidFill>
            <a:srgbClr val="16A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029968"/>
            <a:ext cx="3090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101C3A"/>
                </a:solidFill>
                <a:latin typeface="Aptos"/>
              </a:defRPr>
            </a:pPr>
            <a:r>
              <a:t>Build 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505456"/>
            <a:ext cx="3090672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17233D"/>
                </a:solidFill>
                <a:latin typeface="Aptos"/>
              </a:defRPr>
            </a:pPr>
            <a:r>
              <a:t>Source-backed GCC/activity directory</a:t>
            </a:r>
          </a:p>
          <a:p>
            <a:pPr algn="l">
              <a:spcAft>
                <a:spcPts val="400"/>
              </a:spcAft>
              <a:defRPr sz="1100" b="0" i="0">
                <a:solidFill>
                  <a:srgbClr val="17233D"/>
                </a:solidFill>
                <a:latin typeface="Aptos"/>
              </a:defRPr>
            </a:pPr>
          </a:p>
          <a:p>
            <a:pPr algn="l">
              <a:spcAft>
                <a:spcPts val="400"/>
              </a:spcAft>
              <a:defRPr sz="1100" b="0" i="0">
                <a:solidFill>
                  <a:srgbClr val="17233D"/>
                </a:solidFill>
                <a:latin typeface="Aptos"/>
              </a:defRPr>
            </a:pPr>
            <a:r>
              <a:t>Qualitative city comparison with evidence links</a:t>
            </a:r>
          </a:p>
          <a:p>
            <a:pPr algn="l">
              <a:spcAft>
                <a:spcPts val="400"/>
              </a:spcAft>
              <a:defRPr sz="1100" b="0" i="0">
                <a:solidFill>
                  <a:srgbClr val="17233D"/>
                </a:solidFill>
                <a:latin typeface="Aptos"/>
              </a:defRPr>
            </a:pPr>
          </a:p>
          <a:p>
            <a:pPr algn="l">
              <a:spcAft>
                <a:spcPts val="400"/>
              </a:spcAft>
              <a:defRPr sz="1100" b="0" i="0">
                <a:solidFill>
                  <a:srgbClr val="17233D"/>
                </a:solidFill>
                <a:latin typeface="Aptos"/>
              </a:defRPr>
            </a:pPr>
            <a:r>
              <a:t>Claim status, date and source on every record</a:t>
            </a:r>
          </a:p>
          <a:p>
            <a:pPr algn="l">
              <a:spcAft>
                <a:spcPts val="400"/>
              </a:spcAft>
              <a:defRPr sz="1100" b="0" i="0">
                <a:solidFill>
                  <a:srgbClr val="17233D"/>
                </a:solidFill>
                <a:latin typeface="Aptos"/>
              </a:defRPr>
            </a:pPr>
          </a:p>
          <a:p>
            <a:pPr algn="l">
              <a:spcAft>
                <a:spcPts val="400"/>
              </a:spcAft>
              <a:defRPr sz="1100" b="0" i="0">
                <a:solidFill>
                  <a:srgbClr val="17233D"/>
                </a:solidFill>
                <a:latin typeface="Aptos"/>
              </a:defRPr>
            </a:pPr>
            <a:r>
              <a:t>Correction / evidence-submission path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865376"/>
            <a:ext cx="3474720" cy="3063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61688" y="1865376"/>
            <a:ext cx="50292" cy="3063240"/>
          </a:xfrm>
          <a:prstGeom prst="rect">
            <a:avLst/>
          </a:prstGeom>
          <a:solidFill>
            <a:srgbClr val="E5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2855" y="2029968"/>
            <a:ext cx="3090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101C3A"/>
                </a:solidFill>
                <a:latin typeface="Aptos"/>
              </a:defRPr>
            </a:pPr>
            <a:r>
              <a:t>Defer until reliable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5" y="2505456"/>
            <a:ext cx="3090672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17233D"/>
                </a:solidFill>
                <a:latin typeface="Aptos"/>
              </a:defRPr>
            </a:pPr>
            <a:r>
              <a:t>Audited rent and salary benchmarks</a:t>
            </a:r>
          </a:p>
          <a:p>
            <a:pPr algn="l">
              <a:spcAft>
                <a:spcPts val="400"/>
              </a:spcAft>
              <a:defRPr sz="1100" b="0" i="0">
                <a:solidFill>
                  <a:srgbClr val="17233D"/>
                </a:solidFill>
                <a:latin typeface="Aptos"/>
              </a:defRPr>
            </a:pPr>
          </a:p>
          <a:p>
            <a:pPr algn="l">
              <a:spcAft>
                <a:spcPts val="400"/>
              </a:spcAft>
              <a:defRPr sz="1100" b="0" i="0">
                <a:solidFill>
                  <a:srgbClr val="17233D"/>
                </a:solidFill>
                <a:latin typeface="Aptos"/>
              </a:defRPr>
            </a:pPr>
            <a:r>
              <a:t>Policy eligibility or legal advice</a:t>
            </a:r>
          </a:p>
          <a:p>
            <a:pPr algn="l">
              <a:spcAft>
                <a:spcPts val="400"/>
              </a:spcAft>
              <a:defRPr sz="1100" b="0" i="0">
                <a:solidFill>
                  <a:srgbClr val="17233D"/>
                </a:solidFill>
                <a:latin typeface="Aptos"/>
              </a:defRPr>
            </a:pPr>
          </a:p>
          <a:p>
            <a:pPr algn="l">
              <a:spcAft>
                <a:spcPts val="400"/>
              </a:spcAft>
              <a:defRPr sz="1100" b="0" i="0">
                <a:solidFill>
                  <a:srgbClr val="17233D"/>
                </a:solidFill>
                <a:latin typeface="Aptos"/>
              </a:defRPr>
            </a:pPr>
            <a:r>
              <a:t>Provider performance scores</a:t>
            </a:r>
          </a:p>
          <a:p>
            <a:pPr algn="l">
              <a:spcAft>
                <a:spcPts val="400"/>
              </a:spcAft>
              <a:defRPr sz="1100" b="0" i="0">
                <a:solidFill>
                  <a:srgbClr val="17233D"/>
                </a:solidFill>
                <a:latin typeface="Aptos"/>
              </a:defRPr>
            </a:pPr>
          </a:p>
          <a:p>
            <a:pPr algn="l">
              <a:spcAft>
                <a:spcPts val="400"/>
              </a:spcAft>
              <a:defRPr sz="1100" b="0" i="0">
                <a:solidFill>
                  <a:srgbClr val="17233D"/>
                </a:solidFill>
                <a:latin typeface="Aptos"/>
              </a:defRPr>
            </a:pPr>
            <a:r>
              <a:t>Automated market-wide alerts</a:t>
            </a:r>
          </a:p>
          <a:p>
            <a:pPr algn="l">
              <a:spcAft>
                <a:spcPts val="400"/>
              </a:spcAft>
              <a:defRPr sz="1100" b="0" i="0">
                <a:solidFill>
                  <a:srgbClr val="17233D"/>
                </a:solidFill>
                <a:latin typeface="Aptos"/>
              </a:defRPr>
            </a:pPr>
          </a:p>
          <a:p>
            <a:pPr algn="l">
              <a:spcAft>
                <a:spcPts val="400"/>
              </a:spcAft>
              <a:defRPr sz="1100" b="0" i="0">
                <a:solidFill>
                  <a:srgbClr val="17233D"/>
                </a:solidFill>
                <a:latin typeface="Aptos"/>
              </a:defRPr>
            </a:pPr>
            <a:r>
              <a:t>Universal “best city” rankings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1865376"/>
            <a:ext cx="3447288" cy="3063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1865376"/>
            <a:ext cx="50292" cy="3063240"/>
          </a:xfrm>
          <a:prstGeom prst="rect">
            <a:avLst/>
          </a:prstGeom>
          <a:solidFill>
            <a:srgbClr val="E7A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2029968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101C3A"/>
                </a:solidFill>
                <a:latin typeface="Aptos"/>
              </a:defRPr>
            </a:pPr>
            <a:r>
              <a:t>Commercial hypothesis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2505456"/>
            <a:ext cx="306324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17233D"/>
                </a:solidFill>
                <a:latin typeface="Aptos"/>
              </a:defRPr>
            </a:pPr>
            <a:r>
              <a:t>Paid team workspace, saved research and exportable evidence packs.</a:t>
            </a:r>
          </a:p>
          <a:p>
            <a:pPr algn="l">
              <a:spcAft>
                <a:spcPts val="400"/>
              </a:spcAft>
              <a:defRPr sz="1100" b="0" i="0">
                <a:solidFill>
                  <a:srgbClr val="17233D"/>
                </a:solidFill>
                <a:latin typeface="Aptos"/>
              </a:defRPr>
            </a:pPr>
          </a:p>
          <a:p>
            <a:pPr algn="l">
              <a:spcAft>
                <a:spcPts val="400"/>
              </a:spcAft>
              <a:defRPr sz="1100" b="0" i="0">
                <a:solidFill>
                  <a:srgbClr val="17233D"/>
                </a:solidFill>
                <a:latin typeface="Aptos"/>
              </a:defRPr>
            </a:pPr>
            <a:r>
              <a:t>Public discovery stays accessible.</a:t>
            </a:r>
          </a:p>
          <a:p>
            <a:pPr algn="l">
              <a:spcAft>
                <a:spcPts val="400"/>
              </a:spcAft>
              <a:defRPr sz="1100" b="0" i="0">
                <a:solidFill>
                  <a:srgbClr val="17233D"/>
                </a:solidFill>
                <a:latin typeface="Aptos"/>
              </a:defRPr>
            </a:pPr>
          </a:p>
          <a:p>
            <a:pPr algn="l">
              <a:spcAft>
                <a:spcPts val="400"/>
              </a:spcAft>
              <a:defRPr sz="1100" b="0" i="0">
                <a:solidFill>
                  <a:srgbClr val="17233D"/>
                </a:solidFill>
                <a:latin typeface="Aptos"/>
              </a:defRPr>
            </a:pPr>
            <a:r>
              <a:t>Provider paid features cannot change rank or verification.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5266944"/>
            <a:ext cx="4270248" cy="265176"/>
          </a:xfrm>
          <a:prstGeom prst="roundRect">
            <a:avLst/>
          </a:prstGeom>
          <a:solidFill>
            <a:srgbClr val="FFF1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5280659"/>
            <a:ext cx="41605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800" b="1" i="0">
                <a:solidFill>
                  <a:srgbClr val="80560E"/>
                </a:solidFill>
                <a:latin typeface="Aptos"/>
              </a:defRPr>
            </a:pPr>
            <a:r>
              <a:t>HYPOTHESIS — TEST WILLINGNESS TO PAY BEFORE BUILDING BILLING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5715000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101C3A"/>
                </a:solidFill>
                <a:latin typeface="Aptos"/>
              </a:defRPr>
            </a:pPr>
            <a:r>
              <a:t>Why narrow scope: verified depth is more valuable than a large directory that confuses leads with facts.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6565392"/>
            <a:ext cx="3200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  <a:defRPr sz="700" b="1" i="0">
                <a:solidFill>
                  <a:srgbClr val="62708A"/>
                </a:solidFill>
                <a:latin typeface="Aptos"/>
              </a:defRPr>
            </a:pPr>
            <a:r>
              <a:t>GCC COMPASS  /  PRODUCT INTERN ASSIGNMENT        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16AFA2"/>
                </a:solidFill>
                <a:latin typeface="Aptos"/>
              </a:defRPr>
            </a:pPr>
            <a:r>
              <a:t>08 / PROOF + NEXT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881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2800" b="1" i="0">
                <a:solidFill>
                  <a:srgbClr val="101C3A"/>
                </a:solidFill>
                <a:latin typeface="Aptos Display"/>
              </a:defRPr>
            </a:pPr>
            <a:r>
              <a:t>The prototype works; product-market fit is still a question.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25296"/>
            <a:ext cx="107899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62708A"/>
                </a:solidFill>
                <a:latin typeface="Aptos"/>
              </a:defRPr>
            </a:pPr>
            <a:r>
              <a:t>Separate what is implemented from what must be demonstrated with real decision-makers.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5212080" cy="3611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84831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16AFA2"/>
                </a:solidFill>
                <a:latin typeface="Aptos"/>
              </a:defRPr>
            </a:pPr>
            <a:r>
              <a:t>BUILT IN GCC COMPASS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67665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2600" b="1" i="0">
                <a:solidFill>
                  <a:srgbClr val="101C3A"/>
                </a:solidFill>
                <a:latin typeface="Aptos Display"/>
              </a:defRPr>
            </a:pPr>
            <a: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7632" y="2633472"/>
            <a:ext cx="13898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62708A"/>
                </a:solidFill>
                <a:latin typeface="Aptos"/>
              </a:defRPr>
            </a:pPr>
            <a:r>
              <a:t>company research leads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2560320"/>
            <a:ext cx="67665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2600" b="1" i="0">
                <a:solidFill>
                  <a:srgbClr val="101C3A"/>
                </a:solidFill>
                <a:latin typeface="Aptos Display"/>
              </a:defRPr>
            </a:pPr>
            <a: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59352" y="2633472"/>
            <a:ext cx="13898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62708A"/>
                </a:solidFill>
                <a:latin typeface="Aptos"/>
              </a:defRPr>
            </a:pPr>
            <a:r>
              <a:t>city profiles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584448"/>
            <a:ext cx="67665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2600" b="1" i="0">
                <a:solidFill>
                  <a:srgbClr val="101C3A"/>
                </a:solidFill>
                <a:latin typeface="Aptos Display"/>
              </a:defRPr>
            </a:pPr>
            <a:r>
              <a:t>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7632" y="3657600"/>
            <a:ext cx="13898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62708A"/>
                </a:solidFill>
                <a:latin typeface="Aptos"/>
              </a:defRPr>
            </a:pPr>
            <a:r>
              <a:t>provider profiles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3584448"/>
            <a:ext cx="67665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2600" b="1" i="0">
                <a:solidFill>
                  <a:srgbClr val="101C3A"/>
                </a:solidFill>
                <a:latin typeface="Aptos Display"/>
              </a:defRPr>
            </a:pPr>
            <a:r>
              <a:t>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59352" y="3657600"/>
            <a:ext cx="13898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62708A"/>
                </a:solidFill>
                <a:latin typeface="Aptos"/>
              </a:defRPr>
            </a:pPr>
            <a:r>
              <a:t>source records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736592"/>
            <a:ext cx="4526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17233D"/>
                </a:solidFill>
                <a:latin typeface="Aptos"/>
              </a:defRPr>
            </a:pPr>
            <a:r>
              <a:t>Local extractive retrieval • page citations • arithmetic • explicit no-evidence state</a:t>
            </a:r>
          </a:p>
          <a:p>
            <a:pPr algn="l">
              <a:spcAft>
                <a:spcPts val="400"/>
              </a:spcAft>
              <a:defRPr sz="1000" b="1" i="0">
                <a:solidFill>
                  <a:srgbClr val="17233D"/>
                </a:solidFill>
                <a:latin typeface="Aptos"/>
              </a:defRPr>
            </a:pPr>
            <a:r>
              <a:t>5 focused retrieval tests passed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5239512"/>
            <a:ext cx="2514600" cy="265176"/>
          </a:xfrm>
          <a:prstGeom prst="roundRect">
            <a:avLst/>
          </a:prstGeom>
          <a:solidFill>
            <a:srgbClr val="FFF1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" y="5253228"/>
            <a:ext cx="240487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800" b="1" i="0">
                <a:solidFill>
                  <a:srgbClr val="80560E"/>
                </a:solidFill>
                <a:latin typeface="Aptos"/>
              </a:defRPr>
            </a:pPr>
            <a:r>
              <a:t>SAMPLE DATA — NOT A GCC CENSUS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1865376"/>
            <a:ext cx="5340096" cy="3611880"/>
          </a:xfrm>
          <a:prstGeom prst="roundRect">
            <a:avLst/>
          </a:prstGeom>
          <a:solidFill>
            <a:srgbClr val="10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2084831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6BE0D3"/>
                </a:solidFill>
                <a:latin typeface="Aptos"/>
              </a:defRPr>
            </a:pPr>
            <a:r>
              <a:t>NEXT: A SMALL DESIGN-PARTNER 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2496312"/>
            <a:ext cx="466344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800" b="1" i="0">
                <a:solidFill>
                  <a:srgbClr val="FFFFFF"/>
                </a:solidFill>
                <a:latin typeface="Aptos Display"/>
              </a:defRPr>
            </a:pPr>
            <a:r>
              <a:t>Give site-selection leads one task:</a:t>
            </a:r>
          </a:p>
          <a:p>
            <a:pPr algn="l">
              <a:spcAft>
                <a:spcPts val="400"/>
              </a:spcAft>
              <a:defRPr sz="1800" b="1" i="0">
                <a:solidFill>
                  <a:srgbClr val="FFFFFF"/>
                </a:solidFill>
                <a:latin typeface="Aptos Display"/>
              </a:defRPr>
            </a:pPr>
            <a:r>
              <a:t>“Shortlist a city and show the evidence you used.”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354787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6BE0D3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51775" y="3520440"/>
            <a:ext cx="37490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050" b="0" i="0">
                <a:solidFill>
                  <a:srgbClr val="FFFFFF"/>
                </a:solidFill>
                <a:latin typeface="Aptos"/>
              </a:defRPr>
            </a:pPr>
            <a:r>
              <a:t>Time to a defensible first pass • citation-open rate • claims users challenge • missing evidence.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4416552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6BE0D3"/>
                </a:solidFill>
                <a:latin typeface="Aptos"/>
              </a:defRPr>
            </a:pPr>
            <a:r>
              <a:t>Success looks like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45552" y="4370832"/>
            <a:ext cx="324612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050" b="0" i="0">
                <a:solidFill>
                  <a:srgbClr val="FFFFFF"/>
                </a:solidFill>
                <a:latin typeface="Aptos"/>
              </a:defRPr>
            </a:pPr>
            <a:r>
              <a:t>Less stitching, clearer uncertainty, and no unsupported claim presented as fact. Set numeric targets only after a baseline.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" y="6336792"/>
            <a:ext cx="9875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750" b="0" i="0">
                <a:solidFill>
                  <a:srgbClr val="62708A"/>
                </a:solidFill>
                <a:latin typeface="Aptos"/>
              </a:defRPr>
            </a:pPr>
            <a:r>
              <a:t>Prototype record counts from bundled CSVs, as at 11 Oct 2026. Company/provider records include Needs review or Illustrative entries.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6565392"/>
            <a:ext cx="3200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  <a:defRPr sz="700" b="1" i="0">
                <a:solidFill>
                  <a:srgbClr val="62708A"/>
                </a:solidFill>
                <a:latin typeface="Aptos"/>
              </a:defRPr>
            </a:pPr>
            <a:r>
              <a:t>GCC COMPASS  /  PRODUCT INTERN ASSIGNMENT        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411480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6BE0D3"/>
                </a:solidFill>
                <a:latin typeface="Aptos"/>
              </a:defRPr>
            </a:pPr>
            <a:r>
              <a:t>09 / SOURCES + EVIDENCE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74980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FFFFFF"/>
                </a:solidFill>
                <a:latin typeface="Aptos Display"/>
              </a:defRPr>
            </a:pPr>
            <a:r>
              <a:t>What this deck knows — and what it does not.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1572768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6BE0D3"/>
                </a:solidFill>
                <a:latin typeface="Aptos"/>
              </a:defRPr>
            </a:pPr>
            <a:r>
              <a:t>Primary reference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1920240"/>
            <a:ext cx="5230368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FFFFFF"/>
                </a:solidFill>
                <a:latin typeface="Aptos"/>
              </a:defRPr>
            </a:pPr>
            <a:r>
              <a:t>Government of India / PIB, “From Policy to Prosperity: GCCs Leading India’s Growth Journey” (11 Dec 2025). Page 1 reports 1,700+ GCCs; page 2 names major clusters. The report uses “GCCs” and “centres” in different contexts; do not treat the units or time horizons as interchangeable.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3474720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6BE0D3"/>
                </a:solidFill>
                <a:latin typeface="Aptos"/>
              </a:defRPr>
            </a:pPr>
            <a:r>
              <a:rPr>
                <a:hlinkClick r:id="rId2"/>
              </a:rPr>
              <a:t>Open source PDF  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1572768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6BE0D3"/>
                </a:solidFill>
                <a:latin typeface="Aptos"/>
              </a:defRPr>
            </a:pPr>
            <a:r>
              <a:t>NASSCOM industry reference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7648" y="1920240"/>
            <a:ext cx="4846320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FFFFFF"/>
                </a:solidFill>
                <a:latin typeface="Aptos"/>
              </a:defRPr>
            </a:pPr>
            <a:r>
              <a:t>NASSCOM, “India GCC Landscape: The 5 Year Journey.” Included in the prototype’s source catalogue; no specific NASSCOM statistic is quoted in this deck.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7648" y="2999232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6BE0D3"/>
                </a:solidFill>
                <a:latin typeface="Aptos"/>
              </a:defRPr>
            </a:pPr>
            <a:r>
              <a:rPr>
                <a:hlinkClick r:id="rId3"/>
              </a:rPr>
              <a:t>Open source page  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840480"/>
            <a:ext cx="10771632" cy="1417320"/>
          </a:xfrm>
          <a:prstGeom prst="roundRect">
            <a:avLst/>
          </a:prstGeom>
          <a:solidFill>
            <a:srgbClr val="213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407822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F2C66D"/>
                </a:solidFill>
                <a:latin typeface="Aptos"/>
              </a:defRPr>
            </a:pPr>
            <a:r>
              <a:t>READ THIS BEFORE USING A SAMPLE RECORD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416552"/>
            <a:ext cx="100126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FFFFFF"/>
                </a:solidFill>
                <a:latin typeface="Aptos"/>
              </a:defRPr>
            </a:pPr>
            <a:r>
              <a:t>City fields are qualitative, not audited benchmarks. Company entries are research leads; provider descriptions are self-published or illustrative. Links do not independently prove GCC presence, service delivery or performance.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5532120"/>
            <a:ext cx="10607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850" b="0" i="0">
                <a:solidFill>
                  <a:srgbClr val="B9C9DE"/>
                </a:solidFill>
                <a:latin typeface="Aptos"/>
              </a:defRPr>
            </a:pPr>
            <a:r>
              <a:t>Official PIB report: static.pib.gov.in/WriteReadData/specificdocs/documents/2025/dec/doc20251211727201.pdf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5797296"/>
            <a:ext cx="10607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850" b="0" i="0">
                <a:solidFill>
                  <a:srgbClr val="B9C9DE"/>
                </a:solidFill>
                <a:latin typeface="Aptos"/>
              </a:defRPr>
            </a:pPr>
            <a:r>
              <a:t>NASSCOM source: community.nasscom.in/communities/nasscom-insights/india-gcc-landscape-report-5-year-journey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6153912"/>
            <a:ext cx="10607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850" b="0" i="0">
                <a:solidFill>
                  <a:srgbClr val="B9C9DE"/>
                </a:solidFill>
                <a:latin typeface="Aptos"/>
              </a:defRPr>
            </a:pPr>
            <a:r>
              <a:t>Flexiple assignment brief supplied by the candidate. Product, customer and business-model statements are hypotheses unless explicitly sourced.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6565392"/>
            <a:ext cx="3200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  <a:defRPr sz="700" b="1" i="0">
                <a:solidFill>
                  <a:srgbClr val="62708A"/>
                </a:solidFill>
                <a:latin typeface="Aptos"/>
              </a:defRPr>
            </a:pPr>
            <a:r>
              <a:t>GCC COMPASS  /  PRODUCT INTERN ASSIGNMENT          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3474720"/>
            <a:ext cx="9144" cy="9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600" b="0" i="0">
                <a:solidFill>
                  <a:srgbClr val="17233D"/>
                </a:solidFill>
                <a:latin typeface="Aptos"/>
              </a:defRPr>
            </a:pPr>
            <a: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GCC Compass — Flexiple Product Intern Assignment</dc:title>
  <dc:subject>Evidence-led GCC ecosystem research workspace</dc:subject>
  <dc:creator>GCC Compass</dc:creator>
  <cp:keywords>GCC, India, product strategy, evidence, research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